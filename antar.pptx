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7" r:id="rId8"/>
    <p:sldId id="268" r:id="rId9"/>
    <p:sldId id="262" r:id="rId10"/>
    <p:sldId id="263" r:id="rId11"/>
    <p:sldId id="264" r:id="rId12"/>
    <p:sldId id="265" r:id="rId13"/>
    <p:sldId id="266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80" d="100"/>
          <a:sy n="80" d="100"/>
        </p:scale>
        <p:origin x="100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51012" y="609601"/>
            <a:ext cx="8676222" cy="3200400"/>
          </a:xfrm>
        </p:spPr>
        <p:txBody>
          <a:bodyPr anchor="b">
            <a:normAutofit/>
          </a:bodyPr>
          <a:lstStyle>
            <a:lvl1pPr algn="ctr">
              <a:defRPr sz="4800">
                <a:effectLst>
                  <a:glow rad="38100">
                    <a:schemeClr val="bg1">
                      <a:lumMod val="65000"/>
                      <a:lumOff val="35000"/>
                      <a:alpha val="50000"/>
                    </a:schemeClr>
                  </a:glow>
                  <a:outerShdw blurRad="28575" dist="31750" dir="1320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51012" y="3886200"/>
            <a:ext cx="8676222" cy="1905000"/>
          </a:xfrm>
        </p:spPr>
        <p:txBody>
          <a:bodyPr anchor="t">
            <a:normAutofit/>
          </a:bodyPr>
          <a:lstStyle>
            <a:lvl1pPr marL="0" indent="0" algn="ctr">
              <a:buNone/>
              <a:defRPr sz="21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07FDE2-9B42-48B5-9820-5467EB6F4EAE}" type="datetimeFigureOut">
              <a:rPr lang="en-US" smtClean="0"/>
              <a:t>11/21/2025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FB19-FB94-4B78-8A5C-02F19C774A0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29544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07FDE2-9B42-48B5-9820-5467EB6F4EAE}" type="datetimeFigureOut">
              <a:rPr lang="en-US" smtClean="0"/>
              <a:t>11/21/2025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FB19-FB94-4B78-8A5C-02F19C774A0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58296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51013" y="3308581"/>
            <a:ext cx="8686800" cy="1468800"/>
          </a:xfrm>
        </p:spPr>
        <p:txBody>
          <a:bodyPr anchor="b"/>
          <a:lstStyle>
            <a:lvl1pPr algn="r">
              <a:defRPr sz="4000" b="0" cap="all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51011" y="4777381"/>
            <a:ext cx="8686801" cy="860400"/>
          </a:xfrm>
        </p:spPr>
        <p:txBody>
          <a:bodyPr anchor="t">
            <a:normAutofit/>
          </a:bodyPr>
          <a:lstStyle>
            <a:lvl1pPr marL="0" indent="0" algn="r">
              <a:buNone/>
              <a:defRPr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07FDE2-9B42-48B5-9820-5467EB6F4EAE}" type="datetimeFigureOut">
              <a:rPr lang="en-US" smtClean="0"/>
              <a:t>11/21/2025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FB19-FB94-4B78-8A5C-02F19C774A0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1037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2" y="2666999"/>
            <a:ext cx="4876800" cy="3124201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0612" y="2667000"/>
            <a:ext cx="4876800" cy="312420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07FDE2-9B42-48B5-9820-5467EB6F4EAE}" type="datetimeFigureOut">
              <a:rPr lang="en-US" smtClean="0"/>
              <a:t>11/21/2025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FB19-FB94-4B78-8A5C-02F19C774A0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02735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29280" y="2658533"/>
            <a:ext cx="4588931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2" y="3243262"/>
            <a:ext cx="4876800" cy="2547937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43133" y="2667000"/>
            <a:ext cx="4604280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0612" y="3243262"/>
            <a:ext cx="4876801" cy="2547937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07FDE2-9B42-48B5-9820-5467EB6F4EAE}" type="datetimeFigureOut">
              <a:rPr lang="en-US" smtClean="0"/>
              <a:t>11/21/2025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FB19-FB94-4B78-8A5C-02F19C774A0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307343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07FDE2-9B42-48B5-9820-5467EB6F4EAE}" type="datetimeFigureOut">
              <a:rPr lang="en-US" smtClean="0"/>
              <a:t>11/21/2025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FB19-FB94-4B78-8A5C-02F19C774A0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63607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07FDE2-9B42-48B5-9820-5467EB6F4EAE}" type="datetimeFigureOut">
              <a:rPr lang="en-US" smtClean="0"/>
              <a:t>11/21/2025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FB19-FB94-4B78-8A5C-02F19C774A0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051970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600200"/>
            <a:ext cx="3549121" cy="1371600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03812" y="609601"/>
            <a:ext cx="5943601" cy="51816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2971800"/>
            <a:ext cx="3549121" cy="1828800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07FDE2-9B42-48B5-9820-5467EB6F4EAE}" type="datetimeFigureOut">
              <a:rPr lang="en-US" smtClean="0"/>
              <a:t>11/21/2025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FB19-FB94-4B78-8A5C-02F19C774A0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201584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600200"/>
            <a:ext cx="5334001" cy="1371600"/>
          </a:xfrm>
        </p:spPr>
        <p:txBody>
          <a:bodyPr anchor="b">
            <a:normAutofit/>
          </a:bodyPr>
          <a:lstStyle>
            <a:lvl1pPr algn="l">
              <a:defRPr sz="2800" b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33733" y="-18288"/>
            <a:ext cx="3276599" cy="6903720"/>
          </a:xfr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080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2971800"/>
            <a:ext cx="5334001" cy="1828800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399212" y="5883275"/>
            <a:ext cx="914400" cy="365125"/>
          </a:xfrm>
        </p:spPr>
        <p:txBody>
          <a:bodyPr/>
          <a:lstStyle/>
          <a:p>
            <a:fld id="{EA07FDE2-9B42-48B5-9820-5467EB6F4EAE}" type="datetimeFigureOut">
              <a:rPr lang="en-US" smtClean="0"/>
              <a:t>11/21/2025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141412" y="5883275"/>
            <a:ext cx="5105400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42612" y="5883275"/>
            <a:ext cx="322567" cy="365125"/>
          </a:xfrm>
        </p:spPr>
        <p:txBody>
          <a:bodyPr/>
          <a:lstStyle/>
          <a:p>
            <a:fld id="{A439FB19-FB94-4B78-8A5C-02F19C774A0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98361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4732865"/>
            <a:ext cx="9906000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979612" y="932112"/>
            <a:ext cx="8225944" cy="3164976"/>
          </a:xfrm>
          <a:prstGeom prst="roundRect">
            <a:avLst>
              <a:gd name="adj" fmla="val 4380"/>
            </a:avLst>
          </a:prstGeo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3" y="5299603"/>
            <a:ext cx="9906000" cy="493712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07FDE2-9B42-48B5-9820-5467EB6F4EAE}" type="datetimeFigureOut">
              <a:rPr lang="en-US" smtClean="0"/>
              <a:t>11/21/2025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FB19-FB94-4B78-8A5C-02F19C774A0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99250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2" y="609601"/>
            <a:ext cx="9905999" cy="3124199"/>
          </a:xfrm>
        </p:spPr>
        <p:txBody>
          <a:bodyPr anchor="ctr">
            <a:normAutofit/>
          </a:bodyPr>
          <a:lstStyle>
            <a:lvl1pPr algn="l">
              <a:defRPr sz="3200" b="0" cap="all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343400"/>
            <a:ext cx="9906000" cy="1447800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07FDE2-9B42-48B5-9820-5467EB6F4EAE}" type="datetimeFigureOut">
              <a:rPr lang="en-US" smtClean="0"/>
              <a:t>11/21/2025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FB19-FB94-4B78-8A5C-02F19C774A0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013492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836612" y="78682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accent1"/>
                </a:solidFill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37812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accent1"/>
                </a:solidFill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609601"/>
            <a:ext cx="9296398" cy="2743199"/>
          </a:xfrm>
        </p:spPr>
        <p:txBody>
          <a:bodyPr anchor="ctr">
            <a:normAutofit/>
          </a:bodyPr>
          <a:lstStyle>
            <a:lvl1pPr algn="l">
              <a:defRPr sz="3200" b="0" cap="all">
                <a:solidFill>
                  <a:schemeClr val="tx1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674812" y="3352800"/>
            <a:ext cx="8839202" cy="381000"/>
          </a:xfrm>
        </p:spPr>
        <p:txBody>
          <a:bodyPr anchor="ctr"/>
          <a:lstStyle>
            <a:lvl1pPr marL="0" indent="0">
              <a:buFontTx/>
              <a:buNone/>
              <a:defRPr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343400"/>
            <a:ext cx="9906000" cy="1447800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buNone/>
              <a:defRPr lang="en-US"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</a:lstStyle>
          <a:p>
            <a:pPr marL="0" lvl="0" indent="0">
              <a:buNone/>
            </a:pPr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07FDE2-9B42-48B5-9820-5467EB6F4EAE}" type="datetimeFigureOut">
              <a:rPr lang="en-US" smtClean="0"/>
              <a:t>11/21/2025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FB19-FB94-4B78-8A5C-02F19C774A0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116601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2" y="3308581"/>
            <a:ext cx="9906000" cy="1468800"/>
          </a:xfrm>
        </p:spPr>
        <p:txBody>
          <a:bodyPr anchor="b">
            <a:normAutofit/>
          </a:bodyPr>
          <a:lstStyle>
            <a:lvl1pPr algn="l">
              <a:defRPr sz="3200" b="0" cap="all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0" y="4777381"/>
            <a:ext cx="9906001" cy="860400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</a:lstStyle>
          <a:p>
            <a:pPr marL="0" lvl="0" indent="0">
              <a:buNone/>
            </a:pPr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07FDE2-9B42-48B5-9820-5467EB6F4EAE}" type="datetimeFigureOut">
              <a:rPr lang="en-US" smtClean="0"/>
              <a:t>11/21/2025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FB19-FB94-4B78-8A5C-02F19C774A0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079237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836612" y="78682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accent1"/>
                </a:solidFill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37812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accent1"/>
                </a:solidFill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609601"/>
            <a:ext cx="9296398" cy="2743199"/>
          </a:xfrm>
        </p:spPr>
        <p:txBody>
          <a:bodyPr anchor="ctr">
            <a:normAutofit/>
          </a:bodyPr>
          <a:lstStyle>
            <a:lvl1pPr algn="l">
              <a:defRPr sz="3200" b="0" cap="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141412" y="3886200"/>
            <a:ext cx="9906000" cy="8890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all" dirty="0">
                <a:ln w="3175" cmpd="sng">
                  <a:noFill/>
                </a:ln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 smtClean="0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775200"/>
            <a:ext cx="9906000" cy="10160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07FDE2-9B42-48B5-9820-5467EB6F4EAE}" type="datetimeFigureOut">
              <a:rPr lang="en-US" smtClean="0"/>
              <a:t>11/21/2025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FB19-FB94-4B78-8A5C-02F19C774A0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43807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2" y="609601"/>
            <a:ext cx="9905999" cy="2743199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141412" y="3505200"/>
            <a:ext cx="9906000" cy="8382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800" b="0" cap="all" dirty="0">
                <a:ln w="3175" cmpd="sng">
                  <a:noFill/>
                </a:ln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 smtClean="0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343400"/>
            <a:ext cx="9906000" cy="14478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07FDE2-9B42-48B5-9820-5467EB6F4EAE}" type="datetimeFigureOut">
              <a:rPr lang="en-US" smtClean="0"/>
              <a:t>11/21/2025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FB19-FB94-4B78-8A5C-02F19C774A0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844561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07FDE2-9B42-48B5-9820-5467EB6F4EAE}" type="datetimeFigureOut">
              <a:rPr lang="en-US" smtClean="0"/>
              <a:t>11/21/2025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FB19-FB94-4B78-8A5C-02F19C774A0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138253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6898" y="609599"/>
            <a:ext cx="2210514" cy="5181601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2" y="609600"/>
            <a:ext cx="7543800" cy="5181600"/>
          </a:xfrm>
        </p:spPr>
        <p:txBody>
          <a:bodyPr vert="eaVert" anchor="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07FDE2-9B42-48B5-9820-5467EB6F4EAE}" type="datetimeFigureOut">
              <a:rPr lang="en-US" smtClean="0"/>
              <a:t>11/21/2025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FB19-FB94-4B78-8A5C-02F19C774A0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373902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jp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9">
            <a:lum/>
          </a:blip>
          <a:srcRect/>
          <a:stretch>
            <a:fillRect l="-12000" r="-12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3" y="2666999"/>
            <a:ext cx="9905998" cy="31242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837612" y="5883275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fld id="{EA07FDE2-9B42-48B5-9820-5467EB6F4EAE}" type="datetimeFigureOut">
              <a:rPr lang="en-US" smtClean="0"/>
              <a:t>11/21/2025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2" y="5883275"/>
            <a:ext cx="7543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2" y="5883275"/>
            <a:ext cx="55116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fld id="{A439FB19-FB94-4B78-8A5C-02F19C774A0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8722888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  <p:sldLayoutId id="2147483708" r:id="rId12"/>
    <p:sldLayoutId id="2147483709" r:id="rId13"/>
    <p:sldLayoutId id="2147483710" r:id="rId14"/>
    <p:sldLayoutId id="2147483711" r:id="rId15"/>
    <p:sldLayoutId id="2147483712" r:id="rId16"/>
    <p:sldLayoutId id="2147483713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3200" kern="1200" cap="all">
          <a:ln w="3175" cmpd="sng">
            <a:noFill/>
          </a:ln>
          <a:gradFill flip="none" rotWithShape="1">
            <a:gsLst>
              <a:gs pos="0">
                <a:schemeClr val="tx1"/>
              </a:gs>
              <a:gs pos="100000">
                <a:schemeClr val="tx1">
                  <a:lumMod val="6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65000"/>
                <a:lumOff val="35000"/>
                <a:alpha val="40000"/>
              </a:schemeClr>
            </a:glow>
            <a:outerShdw blurRad="28575" dist="38100" dir="14040000" algn="tl" rotWithShape="0">
              <a:srgbClr val="000000">
                <a:alpha val="25000"/>
              </a:srgbClr>
            </a:outerShdw>
          </a:effectLst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20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8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6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4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4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981972" y="525355"/>
            <a:ext cx="1022805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b="1" dirty="0" smtClean="0">
                <a:latin typeface="Poppins bold"/>
              </a:rPr>
              <a:t>BREADTH FIRST SEARCH (BFS)</a:t>
            </a:r>
            <a:endParaRPr lang="en-US" sz="4800" b="1" dirty="0">
              <a:latin typeface="Poppins bold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333169" y="1348401"/>
            <a:ext cx="952566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800" i="1" dirty="0" smtClean="0"/>
              <a:t>Graph </a:t>
            </a:r>
            <a:r>
              <a:rPr lang="fr-FR" sz="2800" i="1" dirty="0" err="1" smtClean="0"/>
              <a:t>Traversal</a:t>
            </a:r>
            <a:r>
              <a:rPr lang="fr-FR" sz="2800" i="1" dirty="0" smtClean="0"/>
              <a:t> Technique &amp; </a:t>
            </a:r>
            <a:r>
              <a:rPr lang="fr-FR" sz="2800" i="1" dirty="0" err="1" smtClean="0"/>
              <a:t>Its</a:t>
            </a:r>
            <a:r>
              <a:rPr lang="fr-FR" sz="2800" i="1" dirty="0" smtClean="0"/>
              <a:t> Applications</a:t>
            </a:r>
            <a:endParaRPr lang="en-US" sz="2800" i="1" dirty="0"/>
          </a:p>
        </p:txBody>
      </p:sp>
      <p:sp>
        <p:nvSpPr>
          <p:cNvPr id="7" name="TextBox 6"/>
          <p:cNvSpPr txBox="1"/>
          <p:nvPr/>
        </p:nvSpPr>
        <p:spPr>
          <a:xfrm>
            <a:off x="311427" y="2592125"/>
            <a:ext cx="11569147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Presented By   : </a:t>
            </a:r>
            <a:r>
              <a:rPr lang="en-GB" sz="3200" dirty="0" err="1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Antar</a:t>
            </a:r>
            <a:r>
              <a:rPr lang="en-GB" sz="3200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GB" sz="3200" dirty="0" err="1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Karati</a:t>
            </a:r>
            <a:r>
              <a:rPr lang="en-GB" sz="3200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</a:p>
          <a:p>
            <a:r>
              <a:rPr lang="en-GB" sz="3200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Instructor         :  MD. TOHIDUL ISLAM</a:t>
            </a:r>
          </a:p>
          <a:p>
            <a:r>
              <a:rPr lang="en-GB" sz="3200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Course              :  Data Structure</a:t>
            </a:r>
          </a:p>
          <a:p>
            <a:r>
              <a:rPr lang="en-GB" sz="3200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Department     :  Department of Computer Science &amp; Engineering</a:t>
            </a:r>
          </a:p>
          <a:p>
            <a:r>
              <a:rPr lang="en-GB" sz="3200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University         :  University of </a:t>
            </a:r>
            <a:r>
              <a:rPr lang="en-GB" sz="3200" dirty="0" err="1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Rajshahi</a:t>
            </a:r>
            <a:r>
              <a:rPr lang="en-GB" sz="3200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endParaRPr lang="en-US" sz="3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3982279" y="6162261"/>
            <a:ext cx="422744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 smtClean="0"/>
              <a:t>Date: 23 November, 2025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103493384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800">
        <p:circle/>
      </p:transition>
    </mc:Choice>
    <mc:Fallback>
      <p:transition spd="slow">
        <p:circle/>
      </p:transition>
    </mc:Fallback>
  </mc:AlternateContent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119268" y="79510"/>
            <a:ext cx="665524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Presentation Roadmap</a:t>
            </a:r>
            <a:endParaRPr lang="en-US" sz="4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32738" y="1192695"/>
            <a:ext cx="10147672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sz="3200" dirty="0" smtClean="0">
                <a:solidFill>
                  <a:schemeClr val="tx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Introduction &amp; Motivation 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sz="3200" dirty="0" smtClean="0">
                <a:solidFill>
                  <a:schemeClr val="tx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What is BFS? (Core Concept)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sz="3200" dirty="0" smtClean="0">
                <a:solidFill>
                  <a:schemeClr val="tx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How BFS Works (Visual Logic + Queue)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sz="3200" dirty="0" smtClean="0">
                <a:solidFill>
                  <a:schemeClr val="tx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BFS Algorithm (Steps + </a:t>
            </a:r>
            <a:r>
              <a:rPr lang="en-US" sz="3200" dirty="0" err="1" smtClean="0">
                <a:solidFill>
                  <a:schemeClr val="tx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Pseudocode</a:t>
            </a:r>
            <a:r>
              <a:rPr lang="en-US" sz="3200" dirty="0" smtClean="0">
                <a:solidFill>
                  <a:schemeClr val="tx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sz="3200" dirty="0" smtClean="0">
                <a:solidFill>
                  <a:schemeClr val="tx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BFS Simulation</a:t>
            </a:r>
            <a:endParaRPr lang="en-US" sz="3200" dirty="0" smtClean="0">
              <a:solidFill>
                <a:schemeClr val="tx2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sz="3200" dirty="0">
                <a:solidFill>
                  <a:schemeClr val="tx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Complexity Analysis (Time &amp; Space)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sz="3200" dirty="0" smtClean="0">
                <a:solidFill>
                  <a:schemeClr val="tx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Real-World </a:t>
            </a:r>
            <a:r>
              <a:rPr lang="en-US" sz="3200" dirty="0" smtClean="0">
                <a:solidFill>
                  <a:schemeClr val="tx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Applications of BFS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sz="3200" dirty="0" smtClean="0">
                <a:solidFill>
                  <a:schemeClr val="tx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Common Mistakes when Learning BFS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sz="3200" dirty="0" smtClean="0">
                <a:solidFill>
                  <a:schemeClr val="tx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Conclusion &amp; Final Takeaways</a:t>
            </a:r>
            <a:endParaRPr lang="en-US" sz="3200" dirty="0">
              <a:solidFill>
                <a:schemeClr val="tx2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0861265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800">
        <p:circle/>
      </p:transition>
    </mc:Choice>
    <mc:Fallback>
      <p:transition spd="slow">
        <p:circl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10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1000" fill="hold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1000" fill="hold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5" dur="1000" fill="hold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6" dur="1000" fill="hold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10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2" dur="1000" fill="hold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3" dur="1000" fill="hold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1000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9" dur="1000" fill="hold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1000" fill="hold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0" y="0"/>
            <a:ext cx="1060704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4000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Why Learn Breadth-First Search (BFS)?</a:t>
            </a:r>
            <a:endParaRPr lang="en-US" sz="40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12216" y="898501"/>
            <a:ext cx="12252960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en-GB" sz="2800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Core Technique in Graph Theory &amp; Competitive Programming</a:t>
            </a: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GB" sz="2800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Guarantees Shortest Path in </a:t>
            </a:r>
            <a:r>
              <a:rPr lang="en-GB" sz="2800" dirty="0" err="1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Unweighted</a:t>
            </a:r>
            <a:r>
              <a:rPr lang="en-GB" sz="2800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Graphs</a:t>
            </a: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GB" sz="2800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Level-Order Exploration: Explores Level by Level / Explores </a:t>
            </a:r>
            <a:r>
              <a:rPr lang="en-GB" sz="2800" dirty="0" err="1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neighbors</a:t>
            </a:r>
            <a:r>
              <a:rPr lang="en-GB" sz="2800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before moving deeper (unlike DFS)</a:t>
            </a: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GB" sz="2800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Works Efficiently Using a Queue (FIFO)</a:t>
            </a:r>
            <a:endParaRPr lang="en-US" sz="2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0" y="3584118"/>
            <a:ext cx="864597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Practical Motivation:</a:t>
            </a:r>
            <a:endParaRPr lang="en-US" sz="40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30683" y="4343393"/>
            <a:ext cx="9707336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v"/>
            </a:pPr>
            <a:r>
              <a:rPr lang="en-GB" sz="2800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Social Network Connections (Friends of Friends) </a:t>
            </a:r>
          </a:p>
          <a:p>
            <a:pPr marL="342900" indent="-342900">
              <a:buFont typeface="Wingdings" panose="05000000000000000000" pitchFamily="2" charset="2"/>
              <a:buChar char="v"/>
            </a:pPr>
            <a:r>
              <a:rPr lang="en-GB" sz="2800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Network Routing &amp; GPS Shortest Stops</a:t>
            </a:r>
          </a:p>
          <a:p>
            <a:pPr marL="342900" indent="-342900">
              <a:buFont typeface="Wingdings" panose="05000000000000000000" pitchFamily="2" charset="2"/>
              <a:buChar char="v"/>
            </a:pPr>
            <a:r>
              <a:rPr lang="en-GB" sz="2800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Web Crawling and Search Indexing</a:t>
            </a:r>
            <a:endParaRPr lang="en-US" sz="2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00925" y="2580616"/>
            <a:ext cx="4967968" cy="28291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7076055"/>
      </p:ext>
    </p:extLst>
  </p:cSld>
  <p:clrMapOvr>
    <a:masterClrMapping/>
  </p:clrMapOvr>
  <p:transition spd="slow">
    <p:randomBar dir="vert"/>
  </p:transition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46484" y="1057519"/>
            <a:ext cx="11696369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• BFS (Breadth-First Search) is a graph traversal technique that explores vertices in increasing order of distance from the starting node.</a:t>
            </a:r>
          </a:p>
          <a:p>
            <a:r>
              <a:rPr lang="en-GB" sz="2800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• It visits nodes level-by-level (Layered Exploration).</a:t>
            </a:r>
          </a:p>
          <a:p>
            <a:r>
              <a:rPr lang="en-GB" sz="2800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• BFS ensures the shortest path in an </a:t>
            </a:r>
            <a:r>
              <a:rPr lang="en-GB" sz="2800" dirty="0" err="1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unweighted</a:t>
            </a:r>
            <a:r>
              <a:rPr lang="en-GB" sz="2800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graph.</a:t>
            </a:r>
          </a:p>
          <a:p>
            <a:r>
              <a:rPr lang="en-GB" sz="2800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• Primary Data Structure: Queue (FIFO-First In, First Out)</a:t>
            </a:r>
            <a:endParaRPr lang="en-US" sz="2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0" y="0"/>
            <a:ext cx="787974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4000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Definition &amp; Core Concept of BFS</a:t>
            </a:r>
            <a:endParaRPr lang="en-US" sz="40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52400" y="3765936"/>
            <a:ext cx="787974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Working Logic:</a:t>
            </a:r>
            <a:endParaRPr lang="en-US" sz="40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398884" y="4605127"/>
            <a:ext cx="11696369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buAutoNum type="arabicPeriod"/>
            </a:pPr>
            <a:r>
              <a:rPr lang="en-GB" sz="2800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Begin from a source node.</a:t>
            </a:r>
          </a:p>
          <a:p>
            <a:pPr marL="514350" indent="-514350">
              <a:buAutoNum type="arabicPeriod"/>
            </a:pPr>
            <a:r>
              <a:rPr lang="en-GB" sz="2800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Visit </a:t>
            </a:r>
            <a:r>
              <a:rPr lang="en-GB" sz="2800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all direct </a:t>
            </a:r>
            <a:r>
              <a:rPr lang="en-GB" sz="2800" dirty="0" err="1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neighbors</a:t>
            </a:r>
            <a:r>
              <a:rPr lang="en-GB" sz="2800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(Level 1).</a:t>
            </a:r>
          </a:p>
          <a:p>
            <a:pPr marL="514350" indent="-514350">
              <a:buAutoNum type="arabicPeriod"/>
            </a:pPr>
            <a:r>
              <a:rPr lang="en-GB" sz="2800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​</a:t>
            </a:r>
            <a:r>
              <a:rPr lang="en-GB" sz="2800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Move to </a:t>
            </a:r>
            <a:r>
              <a:rPr lang="en-GB" sz="2800" dirty="0" err="1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neighbors</a:t>
            </a:r>
            <a:r>
              <a:rPr lang="en-GB" sz="2800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of </a:t>
            </a:r>
            <a:r>
              <a:rPr lang="en-GB" sz="2800" dirty="0" err="1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neighbors</a:t>
            </a:r>
            <a:r>
              <a:rPr lang="en-GB" sz="2800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(Level 2) and so on.</a:t>
            </a:r>
            <a:endParaRPr lang="en-US" sz="2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94678" y="3304288"/>
            <a:ext cx="4967968" cy="28291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9432701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0" y="0"/>
            <a:ext cx="974829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Algorithm: Breadth-First Search (BFS)</a:t>
            </a:r>
            <a:endParaRPr lang="en-US" sz="40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77664" y="1034993"/>
            <a:ext cx="11696369" cy="52629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buAutoNum type="arabicParenR"/>
            </a:pPr>
            <a:r>
              <a:rPr lang="en-GB" sz="2800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Initialize all nodes as Ready (STATUS = 1)</a:t>
            </a:r>
          </a:p>
          <a:p>
            <a:pPr marL="514350" indent="-514350">
              <a:buAutoNum type="arabicParenR"/>
            </a:pPr>
            <a:r>
              <a:rPr lang="en-GB" sz="2800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Select a source node (e.g., A):  </a:t>
            </a:r>
          </a:p>
          <a:p>
            <a:r>
              <a:rPr lang="en-GB" sz="2800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	 • </a:t>
            </a:r>
            <a:r>
              <a:rPr lang="en-GB" sz="2800" dirty="0" err="1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Enqueue</a:t>
            </a:r>
            <a:r>
              <a:rPr lang="en-GB" sz="2800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it   </a:t>
            </a:r>
          </a:p>
          <a:p>
            <a:r>
              <a:rPr lang="en-GB" sz="2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	</a:t>
            </a:r>
            <a:r>
              <a:rPr lang="en-GB" sz="2800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• Mark as Waiting (STATUS = 2)</a:t>
            </a:r>
          </a:p>
          <a:p>
            <a:r>
              <a:rPr lang="en-GB" sz="2800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3) While the queue is not empty:      </a:t>
            </a:r>
          </a:p>
          <a:p>
            <a:r>
              <a:rPr lang="en-GB" sz="2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	</a:t>
            </a:r>
            <a:r>
              <a:rPr lang="en-GB" sz="2800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	a) </a:t>
            </a:r>
            <a:r>
              <a:rPr lang="en-GB" sz="2800" dirty="0" err="1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Dequeue</a:t>
            </a:r>
            <a:r>
              <a:rPr lang="en-GB" sz="2800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the front node N      </a:t>
            </a:r>
          </a:p>
          <a:p>
            <a:r>
              <a:rPr lang="en-GB" sz="2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	</a:t>
            </a:r>
            <a:r>
              <a:rPr lang="en-GB" sz="2800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	b) Process N and mark as Processed (STATUS = 3)      </a:t>
            </a:r>
          </a:p>
          <a:p>
            <a:r>
              <a:rPr lang="en-GB" sz="2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	</a:t>
            </a:r>
            <a:r>
              <a:rPr lang="en-GB" sz="2800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	c) For each </a:t>
            </a:r>
            <a:r>
              <a:rPr lang="en-GB" sz="2800" dirty="0" err="1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neighbor</a:t>
            </a:r>
            <a:r>
              <a:rPr lang="en-GB" sz="2800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of N:              </a:t>
            </a:r>
          </a:p>
          <a:p>
            <a:r>
              <a:rPr lang="en-GB" sz="2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	</a:t>
            </a:r>
            <a:r>
              <a:rPr lang="en-GB" sz="2800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		If STATUS = 1 (Ready):                    </a:t>
            </a:r>
          </a:p>
          <a:p>
            <a:r>
              <a:rPr lang="en-GB" sz="2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	</a:t>
            </a:r>
            <a:r>
              <a:rPr lang="en-GB" sz="2800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			• </a:t>
            </a:r>
            <a:r>
              <a:rPr lang="en-GB" sz="2800" dirty="0" err="1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Enqueue</a:t>
            </a:r>
            <a:r>
              <a:rPr lang="en-GB" sz="2800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the </a:t>
            </a:r>
            <a:r>
              <a:rPr lang="en-GB" sz="2800" dirty="0" err="1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neighbor</a:t>
            </a:r>
            <a:r>
              <a:rPr lang="en-GB" sz="2800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                    </a:t>
            </a:r>
          </a:p>
          <a:p>
            <a:r>
              <a:rPr lang="en-GB" sz="2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	</a:t>
            </a:r>
            <a:r>
              <a:rPr lang="en-GB" sz="2800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			• Mark it as Waiting (STATUS = 2)</a:t>
            </a:r>
          </a:p>
          <a:p>
            <a:r>
              <a:rPr lang="en-GB" sz="2800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4) Stop after all reachable nodes are processed.</a:t>
            </a:r>
            <a:endParaRPr lang="en-US" sz="2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32889" y="896051"/>
            <a:ext cx="4967968" cy="2829190"/>
          </a:xfrm>
          <a:prstGeom prst="rect">
            <a:avLst/>
          </a:prstGeom>
        </p:spPr>
      </p:pic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58250" y="4531180"/>
            <a:ext cx="3150733" cy="20174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3192975"/>
      </p:ext>
    </p:extLst>
  </p:cSld>
  <p:clrMapOvr>
    <a:masterClrMapping/>
  </p:clrMapOvr>
  <p:transition spd="slow">
    <p:randomBar dir="vert"/>
  </p:transition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0" y="0"/>
            <a:ext cx="1167492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4000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Step-by-Step </a:t>
            </a:r>
            <a:r>
              <a:rPr lang="en-GB" sz="4000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Example ​(Visualizing </a:t>
            </a:r>
            <a:r>
              <a:rPr lang="en-GB" sz="4000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 </a:t>
            </a:r>
            <a:r>
              <a:rPr lang="en-GB" sz="4000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Traversal)</a:t>
            </a:r>
            <a:endParaRPr lang="en-US" sz="40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77664" y="1034993"/>
            <a:ext cx="11696369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 illustrate the operational </a:t>
            </a:r>
            <a:r>
              <a:rPr lang="en-GB" sz="2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behavior</a:t>
            </a:r>
            <a:r>
              <a:rPr lang="en-GB" sz="2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of BFS, we will now perform a step-by-step simulation on the selected graph with source node A.</a:t>
            </a:r>
            <a:endParaRPr lang="en-US" sz="2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1064" y="2691764"/>
            <a:ext cx="5486400" cy="33147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890657" y="2792186"/>
            <a:ext cx="3910694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Adjacency List</a:t>
            </a:r>
          </a:p>
          <a:p>
            <a:r>
              <a:rPr lang="en-US" sz="2800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Nodes	Neighbors</a:t>
            </a:r>
          </a:p>
          <a:p>
            <a:r>
              <a:rPr lang="en-US" sz="2800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		B</a:t>
            </a:r>
          </a:p>
          <a:p>
            <a:r>
              <a:rPr lang="en-US" sz="2800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		C,D</a:t>
            </a:r>
          </a:p>
          <a:p>
            <a:r>
              <a:rPr lang="en-US" sz="2800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		E</a:t>
            </a:r>
          </a:p>
          <a:p>
            <a:r>
              <a:rPr lang="en-US" sz="2800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		A</a:t>
            </a:r>
          </a:p>
          <a:p>
            <a:r>
              <a:rPr lang="en-US" sz="2800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		D</a:t>
            </a:r>
            <a:endParaRPr lang="en-US" sz="2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6890657" y="2792186"/>
            <a:ext cx="3845378" cy="296975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6923315" y="2722789"/>
            <a:ext cx="3910694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Adjacency List</a:t>
            </a:r>
          </a:p>
          <a:p>
            <a:r>
              <a:rPr lang="en-US" sz="2800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Nodes	Neighbors</a:t>
            </a:r>
          </a:p>
          <a:p>
            <a:r>
              <a:rPr lang="en-US" sz="2800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		B</a:t>
            </a:r>
          </a:p>
          <a:p>
            <a:r>
              <a:rPr lang="en-US" sz="2800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		C,D</a:t>
            </a:r>
          </a:p>
          <a:p>
            <a:r>
              <a:rPr lang="en-US" sz="2800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		E</a:t>
            </a:r>
          </a:p>
          <a:p>
            <a:r>
              <a:rPr lang="en-US" sz="2800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		A</a:t>
            </a:r>
          </a:p>
          <a:p>
            <a:r>
              <a:rPr lang="en-US" sz="2800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		D</a:t>
            </a:r>
            <a:endParaRPr lang="en-US" sz="2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2742814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800">
        <p:circle/>
      </p:transition>
    </mc:Choice>
    <mc:Fallback>
      <p:transition spd="slow">
        <p:circle/>
      </p:transition>
    </mc:Fallback>
  </mc:AlternateContent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0" y="0"/>
            <a:ext cx="1167492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4000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Step-by-Step </a:t>
            </a:r>
            <a:r>
              <a:rPr lang="en-GB" sz="4000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Example ​(Visualizing </a:t>
            </a:r>
            <a:r>
              <a:rPr lang="en-GB" sz="4000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 </a:t>
            </a:r>
            <a:r>
              <a:rPr lang="en-GB" sz="4000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Traversal)</a:t>
            </a:r>
            <a:endParaRPr lang="en-US" sz="40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77664" y="692097"/>
            <a:ext cx="11696369" cy="60016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🔹 </a:t>
            </a:r>
            <a:r>
              <a:rPr lang="en-US" sz="240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Step 0 — </a:t>
            </a:r>
            <a:r>
              <a:rPr lang="en-US" sz="2400" b="1" dirty="0" smtClean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Initialization</a:t>
            </a:r>
          </a:p>
          <a:p>
            <a:r>
              <a:rPr lang="en-US" sz="2400" b="1" dirty="0" smtClean="0">
                <a:solidFill>
                  <a:srgbClr val="FFFF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Queue</a:t>
            </a:r>
            <a:r>
              <a:rPr lang="en-US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[ </a:t>
            </a:r>
            <a:r>
              <a:rPr lang="en-US" sz="2400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]</a:t>
            </a:r>
          </a:p>
          <a:p>
            <a:r>
              <a:rPr lang="en-US" sz="2400" b="1" dirty="0" smtClean="0">
                <a:solidFill>
                  <a:srgbClr val="00B05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Status</a:t>
            </a:r>
            <a:r>
              <a:rPr lang="en-US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A,B,C,D,E = Ready(1</a:t>
            </a:r>
            <a:r>
              <a:rPr lang="en-US" sz="2400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</a:t>
            </a:r>
          </a:p>
          <a:p>
            <a:r>
              <a:rPr lang="en-US" sz="2400" b="1" dirty="0" smtClean="0">
                <a:solidFill>
                  <a:srgbClr val="0070C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Processed</a:t>
            </a:r>
            <a:r>
              <a:rPr lang="en-US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</a:t>
            </a:r>
            <a:r>
              <a:rPr lang="en-US" sz="2400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—</a:t>
            </a:r>
          </a:p>
          <a:p>
            <a:r>
              <a:rPr lang="en-US" sz="2400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🔹 </a:t>
            </a:r>
            <a:r>
              <a:rPr lang="en-US" sz="240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Step 1 — </a:t>
            </a:r>
            <a:r>
              <a:rPr lang="en-US" sz="2400" b="1" dirty="0" err="1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Enqueue</a:t>
            </a:r>
            <a:r>
              <a:rPr lang="en-US" sz="240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 (Start</a:t>
            </a:r>
            <a:r>
              <a:rPr lang="en-US" sz="2400" b="1" dirty="0" smtClean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</a:t>
            </a:r>
          </a:p>
          <a:p>
            <a:r>
              <a:rPr lang="en-US" sz="2400" b="1" dirty="0" smtClean="0">
                <a:solidFill>
                  <a:srgbClr val="FFFF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Queue</a:t>
            </a:r>
            <a:r>
              <a:rPr lang="en-US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[A</a:t>
            </a:r>
            <a:r>
              <a:rPr lang="en-US" sz="2400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]</a:t>
            </a:r>
          </a:p>
          <a:p>
            <a:r>
              <a:rPr lang="en-US" sz="2400" b="1" dirty="0" smtClean="0">
                <a:solidFill>
                  <a:srgbClr val="00B05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Status</a:t>
            </a:r>
            <a:r>
              <a:rPr lang="en-US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A=Waiting(2</a:t>
            </a:r>
            <a:r>
              <a:rPr lang="en-US" sz="2400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</a:t>
            </a:r>
          </a:p>
          <a:p>
            <a:r>
              <a:rPr lang="en-US" sz="2400" b="1" dirty="0" smtClean="0">
                <a:solidFill>
                  <a:srgbClr val="0070C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Processed</a:t>
            </a:r>
            <a:r>
              <a:rPr lang="en-US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</a:t>
            </a:r>
            <a:r>
              <a:rPr lang="en-US" sz="2400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—</a:t>
            </a:r>
          </a:p>
          <a:p>
            <a:r>
              <a:rPr lang="en-US" sz="2400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🔹 </a:t>
            </a:r>
            <a:r>
              <a:rPr lang="en-US" sz="240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Step 2 — </a:t>
            </a:r>
            <a:r>
              <a:rPr lang="en-US" sz="2400" b="1" dirty="0" err="1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Dequeue</a:t>
            </a:r>
            <a:r>
              <a:rPr lang="en-US" sz="240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 → </a:t>
            </a:r>
            <a:r>
              <a:rPr lang="en-US" sz="2400" b="1" dirty="0" smtClean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Process &amp; Neighbors </a:t>
            </a:r>
            <a:r>
              <a:rPr lang="en-US" sz="240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Added: </a:t>
            </a:r>
            <a:r>
              <a:rPr lang="en-US" sz="2400" b="1" dirty="0" smtClean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</a:t>
            </a:r>
          </a:p>
          <a:p>
            <a:r>
              <a:rPr lang="en-US" sz="2400" b="1" dirty="0" smtClean="0">
                <a:solidFill>
                  <a:srgbClr val="FFFF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Queue</a:t>
            </a:r>
            <a:r>
              <a:rPr lang="en-US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[B</a:t>
            </a:r>
            <a:r>
              <a:rPr lang="en-US" sz="2400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]</a:t>
            </a:r>
          </a:p>
          <a:p>
            <a:r>
              <a:rPr lang="en-US" sz="2400" b="1" dirty="0" smtClean="0">
                <a:solidFill>
                  <a:srgbClr val="00B05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Status</a:t>
            </a:r>
            <a:r>
              <a:rPr lang="en-US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A=3, </a:t>
            </a:r>
            <a:r>
              <a:rPr lang="en-US" sz="2400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B=2</a:t>
            </a:r>
          </a:p>
          <a:p>
            <a:r>
              <a:rPr lang="en-US" sz="2400" b="1" dirty="0" smtClean="0">
                <a:solidFill>
                  <a:srgbClr val="0070C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Processed</a:t>
            </a:r>
            <a:r>
              <a:rPr lang="en-US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</a:t>
            </a:r>
            <a:r>
              <a:rPr lang="en-US" sz="2400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</a:t>
            </a:r>
          </a:p>
          <a:p>
            <a:r>
              <a:rPr lang="en-US" sz="2400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🔹 </a:t>
            </a:r>
            <a:r>
              <a:rPr lang="en-US" sz="240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Step 3 — </a:t>
            </a:r>
            <a:r>
              <a:rPr lang="en-US" sz="2400" b="1" dirty="0" err="1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Dequeue</a:t>
            </a:r>
            <a:r>
              <a:rPr lang="en-US" sz="240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B → </a:t>
            </a:r>
            <a:r>
              <a:rPr lang="en-US" sz="2400" b="1" dirty="0" smtClean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Process &amp; Neighbors </a:t>
            </a:r>
            <a:r>
              <a:rPr lang="en-US" sz="240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Added: C, </a:t>
            </a:r>
            <a:r>
              <a:rPr lang="en-US" sz="2400" b="1" dirty="0" smtClean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</a:t>
            </a:r>
          </a:p>
          <a:p>
            <a:r>
              <a:rPr lang="en-US" sz="2400" b="1" dirty="0" smtClean="0">
                <a:solidFill>
                  <a:srgbClr val="FFFF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Queue</a:t>
            </a:r>
            <a:r>
              <a:rPr lang="en-US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[C, D</a:t>
            </a:r>
            <a:r>
              <a:rPr lang="en-US" sz="2400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]</a:t>
            </a:r>
          </a:p>
          <a:p>
            <a:r>
              <a:rPr lang="en-US" sz="2400" b="1" dirty="0" smtClean="0">
                <a:solidFill>
                  <a:srgbClr val="00B05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Status</a:t>
            </a:r>
            <a:r>
              <a:rPr lang="en-US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A=3, B=3, C=2, </a:t>
            </a:r>
            <a:r>
              <a:rPr lang="en-US" sz="2400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D=2</a:t>
            </a:r>
          </a:p>
          <a:p>
            <a:r>
              <a:rPr lang="en-US" sz="2400" b="1" dirty="0" smtClean="0">
                <a:solidFill>
                  <a:srgbClr val="0070C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Processed</a:t>
            </a:r>
            <a:r>
              <a:rPr lang="en-US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A, B</a:t>
            </a:r>
            <a:endParaRPr lang="en-US" sz="2400" dirty="0" smtClean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07444" y="1033215"/>
            <a:ext cx="4067485" cy="3326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2055683"/>
      </p:ext>
    </p:extLst>
  </p:cSld>
  <p:clrMapOvr>
    <a:masterClrMapping/>
  </p:clrMapOvr>
  <p:transition spd="med">
    <p:pull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1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1000" fill="hold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10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5" dur="1000" fill="hold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10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1000" fill="hold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1000" fill="hold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5" dur="1000" fill="hold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6" dur="1000" fill="hold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1000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2" dur="1000" fill="hold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3" dur="1000" fill="hold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4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1000"/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7" dur="1000" fill="hold"/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8" dur="1000" fill="hold"/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9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1000"/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2" dur="1000" fill="hold"/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3" dur="1000" fill="hold"/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4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1000"/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7" dur="1000" fill="hold"/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8" dur="1000" fill="hold"/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1000"/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4" dur="1000" fill="hold"/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5" dur="1000" fill="hold"/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6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1000"/>
                                        <p:tgtEl>
                                          <p:spTgt spid="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9" dur="1000" fill="hold"/>
                                        <p:tgtEl>
                                          <p:spTgt spid="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0" dur="1000" fill="hold"/>
                                        <p:tgtEl>
                                          <p:spTgt spid="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1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1000"/>
                                        <p:tgtEl>
                                          <p:spTgt spid="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4" dur="1000" fill="hold"/>
                                        <p:tgtEl>
                                          <p:spTgt spid="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5" dur="1000" fill="hold"/>
                                        <p:tgtEl>
                                          <p:spTgt spid="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6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1000"/>
                                        <p:tgtEl>
                                          <p:spTgt spid="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9" dur="1000" fill="hold"/>
                                        <p:tgtEl>
                                          <p:spTgt spid="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0" dur="1000" fill="hold"/>
                                        <p:tgtEl>
                                          <p:spTgt spid="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177664" y="744311"/>
            <a:ext cx="9586537" cy="60016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🔹 </a:t>
            </a:r>
            <a:r>
              <a:rPr lang="en-US" sz="240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Step 4 — </a:t>
            </a:r>
            <a:r>
              <a:rPr lang="en-US" sz="2400" b="1" dirty="0" err="1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Dequeue</a:t>
            </a:r>
            <a:r>
              <a:rPr lang="en-US" sz="240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C → </a:t>
            </a:r>
            <a:r>
              <a:rPr lang="en-US" sz="2400" b="1" dirty="0" smtClean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Process  &amp;  Neighbor </a:t>
            </a:r>
            <a:r>
              <a:rPr lang="en-US" sz="240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Added: </a:t>
            </a:r>
            <a:r>
              <a:rPr lang="en-US" sz="2400" b="1" dirty="0" smtClean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</a:t>
            </a:r>
          </a:p>
          <a:p>
            <a:r>
              <a:rPr lang="en-US" sz="2400" b="1" dirty="0" smtClean="0">
                <a:solidFill>
                  <a:srgbClr val="FFFF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Queue</a:t>
            </a:r>
            <a:r>
              <a:rPr lang="en-US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[D, E</a:t>
            </a:r>
            <a:r>
              <a:rPr lang="en-US" sz="2400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]</a:t>
            </a:r>
          </a:p>
          <a:p>
            <a:r>
              <a:rPr lang="en-US" sz="2400" b="1" dirty="0" smtClean="0">
                <a:solidFill>
                  <a:srgbClr val="00B05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Status</a:t>
            </a:r>
            <a:r>
              <a:rPr lang="en-US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C=3, </a:t>
            </a:r>
            <a:r>
              <a:rPr lang="en-US" sz="2400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E=2</a:t>
            </a:r>
          </a:p>
          <a:p>
            <a:r>
              <a:rPr lang="en-US" sz="2400" b="1" dirty="0" smtClean="0">
                <a:solidFill>
                  <a:srgbClr val="0070C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Processed</a:t>
            </a:r>
            <a:r>
              <a:rPr lang="en-US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A, B, </a:t>
            </a:r>
            <a:r>
              <a:rPr lang="en-US" sz="2400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</a:t>
            </a:r>
          </a:p>
          <a:p>
            <a:endParaRPr lang="en-US" sz="2400" dirty="0" smtClean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2400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🔹 </a:t>
            </a:r>
            <a:r>
              <a:rPr lang="en-US" sz="240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Step 5 — </a:t>
            </a:r>
            <a:r>
              <a:rPr lang="en-US" sz="2400" b="1" dirty="0" err="1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Dequeue</a:t>
            </a:r>
            <a:r>
              <a:rPr lang="en-US" sz="240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D → </a:t>
            </a:r>
            <a:r>
              <a:rPr lang="en-US" sz="2400" b="1" dirty="0" smtClean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Process &amp; Neighbor </a:t>
            </a:r>
            <a:r>
              <a:rPr lang="en-US" sz="240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 already processed → </a:t>
            </a:r>
            <a:r>
              <a:rPr lang="en-US" sz="2400" b="1" dirty="0" smtClean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Skip</a:t>
            </a:r>
          </a:p>
          <a:p>
            <a:r>
              <a:rPr lang="en-US" sz="2400" b="1" dirty="0" smtClean="0">
                <a:solidFill>
                  <a:srgbClr val="FFFF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Queue</a:t>
            </a:r>
            <a:r>
              <a:rPr lang="en-US" sz="2400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</a:t>
            </a:r>
            <a:r>
              <a:rPr lang="en-US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[E</a:t>
            </a:r>
            <a:r>
              <a:rPr lang="en-US" sz="2400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]</a:t>
            </a:r>
          </a:p>
          <a:p>
            <a:r>
              <a:rPr lang="en-US" sz="2400" b="1" dirty="0" smtClean="0">
                <a:solidFill>
                  <a:srgbClr val="00B05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Status</a:t>
            </a:r>
            <a:r>
              <a:rPr lang="en-US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</a:t>
            </a:r>
            <a:r>
              <a:rPr lang="en-US" sz="2400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D=3</a:t>
            </a:r>
          </a:p>
          <a:p>
            <a:r>
              <a:rPr lang="en-US" sz="2400" b="1" dirty="0" smtClean="0">
                <a:solidFill>
                  <a:srgbClr val="0070C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Processed</a:t>
            </a:r>
            <a:r>
              <a:rPr lang="en-US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A, B, C, </a:t>
            </a:r>
            <a:r>
              <a:rPr lang="en-US" sz="2400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</a:t>
            </a:r>
          </a:p>
          <a:p>
            <a:endParaRPr lang="en-US" sz="2400" dirty="0" smtClean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2400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🔹 </a:t>
            </a:r>
            <a:r>
              <a:rPr lang="en-US" sz="240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Step 6 — </a:t>
            </a:r>
            <a:r>
              <a:rPr lang="en-US" sz="2400" b="1" dirty="0" err="1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Dequeue</a:t>
            </a:r>
            <a:r>
              <a:rPr lang="en-US" sz="240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E → </a:t>
            </a:r>
            <a:r>
              <a:rPr lang="en-US" sz="2400" b="1" dirty="0" smtClean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Process &amp; Neighbor </a:t>
            </a:r>
            <a:r>
              <a:rPr lang="en-US" sz="240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 processed → </a:t>
            </a:r>
            <a:r>
              <a:rPr lang="en-US" sz="2400" b="1" dirty="0" smtClean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Skip</a:t>
            </a:r>
          </a:p>
          <a:p>
            <a:r>
              <a:rPr lang="en-US" sz="2400" b="1" dirty="0" smtClean="0">
                <a:solidFill>
                  <a:srgbClr val="FFFF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Queue</a:t>
            </a:r>
            <a:r>
              <a:rPr lang="en-US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[ </a:t>
            </a:r>
            <a:r>
              <a:rPr lang="en-US" sz="2400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]</a:t>
            </a:r>
          </a:p>
          <a:p>
            <a:r>
              <a:rPr lang="en-US" sz="2400" b="1" dirty="0" smtClean="0">
                <a:solidFill>
                  <a:srgbClr val="00B05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Status</a:t>
            </a:r>
            <a:r>
              <a:rPr lang="en-US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</a:t>
            </a:r>
            <a:r>
              <a:rPr lang="en-US" sz="2400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E=3</a:t>
            </a:r>
          </a:p>
          <a:p>
            <a:r>
              <a:rPr lang="en-US" sz="2400" b="1" dirty="0" smtClean="0">
                <a:solidFill>
                  <a:srgbClr val="0070C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Processed</a:t>
            </a:r>
            <a:r>
              <a:rPr lang="en-US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 </a:t>
            </a:r>
            <a:r>
              <a:rPr lang="en-US" sz="240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A, B, C, D, </a:t>
            </a:r>
            <a:r>
              <a:rPr lang="en-US" sz="2400" dirty="0" smtClean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 (Final Output)</a:t>
            </a:r>
          </a:p>
          <a:p>
            <a:endParaRPr lang="en-US" sz="24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GB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Stop — queue empty; all reachable nodes processed</a:t>
            </a:r>
            <a:r>
              <a:rPr lang="en-GB" sz="2400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</a:t>
            </a:r>
            <a:endParaRPr lang="en-US" sz="2400" dirty="0" smtClean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0" y="0"/>
            <a:ext cx="1167492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4000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Step-by-Step </a:t>
            </a:r>
            <a:r>
              <a:rPr lang="en-GB" sz="4000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Example ​(Visualizing </a:t>
            </a:r>
            <a:r>
              <a:rPr lang="en-GB" sz="4000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 </a:t>
            </a:r>
            <a:r>
              <a:rPr lang="en-GB" sz="4000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Traversal)</a:t>
            </a:r>
            <a:endParaRPr lang="en-US" sz="40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30029" y="2990875"/>
            <a:ext cx="3649435" cy="3326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717654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1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1000" fill="hold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10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5" dur="1000" fill="hold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1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1000" fill="hold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1000" fill="hold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5" dur="1000" fill="hold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6" dur="1000" fill="hold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1000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2" dur="1000" fill="hold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3" dur="1000" fill="hold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4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1000"/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7" dur="1000" fill="hold"/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8" dur="1000" fill="hold"/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9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1000"/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2" dur="1000" fill="hold"/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3" dur="1000" fill="hold"/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4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1000"/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7" dur="1000" fill="hold"/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8" dur="1000" fill="hold"/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3" dur="500" fill="hold"/>
                                        <p:tgtEl>
                                          <p:spTgt spid="4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4" dur="500" fill="hold"/>
                                        <p:tgtEl>
                                          <p:spTgt spid="4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0" y="0"/>
            <a:ext cx="974829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Complexity Analysis (BFS)</a:t>
            </a:r>
            <a:endParaRPr lang="en-US" sz="40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201518" y="707886"/>
            <a:ext cx="1169636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buFont typeface="+mj-lt"/>
              <a:buAutoNum type="arabicParenR"/>
            </a:pPr>
            <a:r>
              <a:rPr lang="en-US" sz="3200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Time Complexity:  </a:t>
            </a:r>
            <a:r>
              <a:rPr lang="en-GB" sz="3200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O(V + E)</a:t>
            </a:r>
            <a:endParaRPr lang="en-US" sz="3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281031" y="1371063"/>
            <a:ext cx="11696369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	V: Number of vertices (nodes)</a:t>
            </a:r>
          </a:p>
          <a:p>
            <a:r>
              <a:rPr lang="en-GB" sz="2800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	E: Number of edges</a:t>
            </a:r>
          </a:p>
          <a:p>
            <a:pPr marL="457200" indent="-457200">
              <a:buFont typeface="Wingdings" panose="05000000000000000000" pitchFamily="2" charset="2"/>
              <a:buChar char="v"/>
            </a:pPr>
            <a:r>
              <a:rPr lang="en-GB" sz="2800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Why?</a:t>
            </a:r>
          </a:p>
          <a:p>
            <a:r>
              <a:rPr lang="en-GB" sz="2800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	✔ Every vertex is visited once</a:t>
            </a:r>
          </a:p>
          <a:p>
            <a:r>
              <a:rPr lang="en-GB" sz="2800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	✔ Every edge is checked once (directed) or twice (undirected)</a:t>
            </a:r>
            <a:endParaRPr lang="en-US" sz="2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433431" y="4346170"/>
            <a:ext cx="11696369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	Required for:</a:t>
            </a:r>
          </a:p>
          <a:p>
            <a:r>
              <a:rPr lang="en-GB" sz="2800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		✔ Queue</a:t>
            </a:r>
          </a:p>
          <a:p>
            <a:r>
              <a:rPr lang="en-GB" sz="2800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		✔ Visited/Status Array</a:t>
            </a:r>
          </a:p>
          <a:p>
            <a:r>
              <a:rPr lang="en-GB" sz="2800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3)  Special Case (Adjacency Matrix):</a:t>
            </a:r>
          </a:p>
          <a:p>
            <a:r>
              <a:rPr lang="en-GB" sz="2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	</a:t>
            </a:r>
            <a:r>
              <a:rPr lang="en-GB" sz="2800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Time Complexity = O(V²)</a:t>
            </a:r>
            <a:r>
              <a:rPr lang="en-US" sz="2800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endParaRPr lang="en-US" sz="2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298261" y="3737323"/>
            <a:ext cx="1169636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2)   Space Complexity:  O(V)</a:t>
            </a:r>
            <a:endParaRPr lang="en-US" sz="3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89931870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1" dur="500" fill="hold"/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500" fill="hold"/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7" dur="500" fill="hold"/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8" dur="500" fill="hold"/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1" dur="500" fill="hold"/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2" dur="500" fill="hold"/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0" y="0"/>
            <a:ext cx="974829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4000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Applications of BFS</a:t>
            </a:r>
            <a:endParaRPr lang="en-US" sz="40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710402" y="707886"/>
            <a:ext cx="11696369" cy="60631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buAutoNum type="arabicPeriod"/>
            </a:pPr>
            <a:r>
              <a:rPr lang="en-US" sz="3200" dirty="0" smtClean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Shortest Path (</a:t>
            </a:r>
            <a:r>
              <a:rPr lang="en-US" sz="3200" dirty="0" err="1" smtClean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Unweighted</a:t>
            </a:r>
            <a:r>
              <a:rPr lang="en-US" sz="3200" dirty="0" smtClean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Graphs)</a:t>
            </a:r>
          </a:p>
          <a:p>
            <a:r>
              <a:rPr lang="en-US" sz="3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	</a:t>
            </a:r>
            <a:r>
              <a:rPr lang="en-US" sz="2800" i="1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➤ Example: Minimum hops in network routing</a:t>
            </a:r>
          </a:p>
          <a:p>
            <a:r>
              <a:rPr lang="en-US" sz="3200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2. </a:t>
            </a:r>
            <a:r>
              <a:rPr lang="en-US" sz="3200" dirty="0" smtClean="0">
                <a:solidFill>
                  <a:srgbClr val="00B05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Web Crawling</a:t>
            </a:r>
          </a:p>
          <a:p>
            <a:r>
              <a:rPr lang="en-US" sz="3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	</a:t>
            </a:r>
            <a:r>
              <a:rPr lang="en-US" sz="2800" i="1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➤ Pages are indexed layer-by-layer from a source URL</a:t>
            </a:r>
          </a:p>
          <a:p>
            <a:r>
              <a:rPr lang="en-US" sz="3200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3. </a:t>
            </a:r>
            <a:r>
              <a:rPr lang="en-US" sz="3200" dirty="0" smtClean="0">
                <a:solidFill>
                  <a:srgbClr val="0070C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Social Media Connections</a:t>
            </a:r>
          </a:p>
          <a:p>
            <a:r>
              <a:rPr lang="en-US" sz="3200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	</a:t>
            </a:r>
            <a:r>
              <a:rPr lang="en-US" sz="2800" i="1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➤ Finding users within k levels (friends-of-friends)</a:t>
            </a:r>
          </a:p>
          <a:p>
            <a:r>
              <a:rPr lang="en-US" sz="3200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4. </a:t>
            </a:r>
            <a:r>
              <a:rPr lang="en-US" sz="3200" dirty="0" smtClean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Peer-to-Peer Networks</a:t>
            </a:r>
          </a:p>
          <a:p>
            <a:r>
              <a:rPr lang="en-US" sz="3200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	</a:t>
            </a:r>
            <a:r>
              <a:rPr lang="en-US" sz="2800" i="1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➤ Locating nearest resource/peer (e.g., </a:t>
            </a:r>
            <a:r>
              <a:rPr lang="en-US" sz="2800" i="1" dirty="0" err="1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BitTorrent</a:t>
            </a:r>
            <a:r>
              <a:rPr lang="en-US" sz="2800" i="1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</a:t>
            </a:r>
          </a:p>
          <a:p>
            <a:r>
              <a:rPr lang="en-US" sz="3200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5. </a:t>
            </a:r>
            <a:r>
              <a:rPr lang="en-US" sz="3200" dirty="0" smtClean="0">
                <a:solidFill>
                  <a:srgbClr val="00B05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Cycle Detection (Undirected Graphs)</a:t>
            </a:r>
          </a:p>
          <a:p>
            <a:r>
              <a:rPr lang="en-US" sz="3200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	</a:t>
            </a:r>
            <a:r>
              <a:rPr lang="en-US" sz="2800" i="1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➤ Detects cycles using level-wise visitation</a:t>
            </a:r>
          </a:p>
          <a:p>
            <a:r>
              <a:rPr lang="en-US" sz="3200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6. </a:t>
            </a:r>
            <a:r>
              <a:rPr lang="en-US" sz="3200" dirty="0" smtClean="0">
                <a:solidFill>
                  <a:srgbClr val="0070C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Flood Fill / Region Filling</a:t>
            </a:r>
          </a:p>
          <a:p>
            <a:r>
              <a:rPr lang="en-US" sz="3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	</a:t>
            </a:r>
            <a:r>
              <a:rPr lang="en-US" sz="2800" i="1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➤ Used in paint bucket tools &amp; game map coloring</a:t>
            </a:r>
            <a:endParaRPr lang="en-US" sz="2800" i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78481150"/>
      </p:ext>
    </p:extLst>
  </p:cSld>
  <p:clrMapOvr>
    <a:masterClrMapping/>
  </p:clrMapOvr>
  <p:transition spd="slow">
    <p:wipe/>
  </p:transition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0" y="0"/>
            <a:ext cx="1275261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4000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Critical Considerations in BFS</a:t>
            </a:r>
            <a:endParaRPr lang="en-US" sz="40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318408" y="854844"/>
            <a:ext cx="12088364" cy="48936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buAutoNum type="arabicPeriod"/>
            </a:pPr>
            <a:r>
              <a:rPr lang="en-GB" sz="3200" dirty="0" smtClean="0">
                <a:solidFill>
                  <a:srgbClr val="0070C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Not Suitable for Weighted Graphs</a:t>
            </a:r>
          </a:p>
          <a:p>
            <a:r>
              <a:rPr lang="en-US" sz="3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	</a:t>
            </a:r>
            <a:r>
              <a:rPr lang="en-US" sz="2800" i="1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➤ </a:t>
            </a:r>
            <a:r>
              <a:rPr lang="en-GB" sz="2800" i="1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BFS does NOT guarantee shortest path in weighted graphs (Use 	</a:t>
            </a:r>
            <a:r>
              <a:rPr lang="en-GB" sz="2800" i="1" dirty="0" err="1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Dijkstra</a:t>
            </a:r>
            <a:r>
              <a:rPr lang="en-GB" sz="2800" i="1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instead).</a:t>
            </a:r>
          </a:p>
          <a:p>
            <a:r>
              <a:rPr lang="en-US" sz="3200" dirty="0" smtClean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2. High Memory Usage</a:t>
            </a:r>
          </a:p>
          <a:p>
            <a:r>
              <a:rPr lang="en-US" sz="3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	</a:t>
            </a:r>
            <a:r>
              <a:rPr lang="en-US" sz="2800" i="1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➤ </a:t>
            </a:r>
            <a:r>
              <a:rPr lang="en-GB" sz="2800" i="1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Can consume significant memory if the graph is very wide (large 	branching factor).</a:t>
            </a:r>
          </a:p>
          <a:p>
            <a:r>
              <a:rPr lang="en-US" sz="3200" dirty="0" smtClean="0">
                <a:solidFill>
                  <a:srgbClr val="00B05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3. Risk of Infinite Loops</a:t>
            </a:r>
          </a:p>
          <a:p>
            <a:r>
              <a:rPr lang="en-US" sz="3200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	</a:t>
            </a:r>
            <a:r>
              <a:rPr lang="en-US" sz="2800" i="1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➤ </a:t>
            </a:r>
            <a:r>
              <a:rPr lang="en-GB" sz="2800" i="1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Forgetting the visited array causes cycles to trap the algorithm.</a:t>
            </a:r>
          </a:p>
          <a:p>
            <a:r>
              <a:rPr lang="en-US" sz="3200" dirty="0" smtClean="0">
                <a:solidFill>
                  <a:srgbClr val="FFFF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4. Edge Direction Handling</a:t>
            </a:r>
          </a:p>
          <a:p>
            <a:r>
              <a:rPr lang="en-US" sz="3200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	</a:t>
            </a:r>
            <a:r>
              <a:rPr lang="en-US" sz="2800" i="1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➤ </a:t>
            </a:r>
            <a:r>
              <a:rPr lang="en-GB" sz="2800" i="1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Be careful with Directed vs. Undirected edges when adding </a:t>
            </a:r>
            <a:r>
              <a:rPr lang="en-GB" sz="2800" i="1" dirty="0" err="1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neighbors</a:t>
            </a:r>
            <a:endParaRPr lang="en-US" sz="3200" dirty="0" smtClean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48214492"/>
      </p:ext>
    </p:extLst>
  </p:cSld>
  <p:clrMapOvr>
    <a:masterClrMapping/>
  </p:clrMapOvr>
  <p:transition spd="slow">
    <p:randomBar dir="vert"/>
  </p:transition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0" y="0"/>
            <a:ext cx="9748299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Summary </a:t>
            </a:r>
            <a:r>
              <a:rPr lang="en-US" sz="4000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&amp; </a:t>
            </a:r>
            <a:r>
              <a:rPr lang="en-US" sz="4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References</a:t>
            </a:r>
          </a:p>
          <a:p>
            <a:endParaRPr lang="en-US" sz="40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77664" y="613576"/>
            <a:ext cx="11696369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What We Learned from BFS</a:t>
            </a:r>
          </a:p>
          <a:p>
            <a:r>
              <a:rPr lang="en-GB" sz="3200" b="1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Recap:</a:t>
            </a:r>
          </a:p>
          <a:p>
            <a:r>
              <a:rPr lang="en-GB" sz="2800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	</a:t>
            </a:r>
            <a:r>
              <a:rPr lang="en-GB" sz="2800" dirty="0" smtClean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✔ Level-Order Traversal (Explore layer by layer)</a:t>
            </a:r>
          </a:p>
          <a:p>
            <a:r>
              <a:rPr lang="en-GB" sz="2800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	</a:t>
            </a:r>
            <a:r>
              <a:rPr lang="en-GB" sz="2800" dirty="0" smtClean="0">
                <a:solidFill>
                  <a:srgbClr val="00B05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✔ Uses Queue (FIFO Model)</a:t>
            </a:r>
          </a:p>
          <a:p>
            <a:r>
              <a:rPr lang="en-GB" sz="2800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	</a:t>
            </a:r>
            <a:r>
              <a:rPr lang="en-GB" sz="2800" dirty="0" smtClean="0">
                <a:solidFill>
                  <a:srgbClr val="FFFF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✔ Time Complexity: O(V + E)</a:t>
            </a:r>
          </a:p>
          <a:p>
            <a:r>
              <a:rPr lang="en-GB" sz="2800" dirty="0" smtClean="0">
                <a:solidFill>
                  <a:srgbClr val="0070C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	✔ Ideal for Shortest Path in </a:t>
            </a:r>
            <a:r>
              <a:rPr lang="en-GB" sz="2800" dirty="0" err="1" smtClean="0">
                <a:solidFill>
                  <a:srgbClr val="0070C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Unweighted</a:t>
            </a:r>
            <a:r>
              <a:rPr lang="en-GB" sz="2800" dirty="0" smtClean="0">
                <a:solidFill>
                  <a:srgbClr val="0070C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Graphs</a:t>
            </a:r>
            <a:endParaRPr lang="en-US" sz="2800" dirty="0">
              <a:solidFill>
                <a:srgbClr val="0070C0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11318" y="3546290"/>
            <a:ext cx="974829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References</a:t>
            </a:r>
            <a:endParaRPr lang="en-US" sz="40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614985" y="4368413"/>
            <a:ext cx="11696369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buAutoNum type="arabicPeriod"/>
            </a:pPr>
            <a:r>
              <a:rPr lang="en-GB" sz="3200" dirty="0" err="1" smtClean="0">
                <a:solidFill>
                  <a:srgbClr val="FFFF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Cormen</a:t>
            </a:r>
            <a:r>
              <a:rPr lang="en-GB" sz="3200" dirty="0" smtClean="0">
                <a:solidFill>
                  <a:srgbClr val="FFFF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et al. (CLRS) – Introduction to Algorithms, Chapter 22</a:t>
            </a:r>
          </a:p>
          <a:p>
            <a:pPr marL="514350" indent="-514350">
              <a:buAutoNum type="arabicPeriod"/>
            </a:pPr>
            <a:r>
              <a:rPr lang="en-GB" sz="3200" dirty="0" err="1" smtClean="0">
                <a:solidFill>
                  <a:srgbClr val="0070C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GeeksforGeeks</a:t>
            </a:r>
            <a:r>
              <a:rPr lang="en-GB" sz="3200" dirty="0" smtClean="0">
                <a:solidFill>
                  <a:srgbClr val="0070C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/ </a:t>
            </a:r>
            <a:r>
              <a:rPr lang="en-GB" sz="3200" dirty="0" err="1" smtClean="0">
                <a:solidFill>
                  <a:srgbClr val="0070C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LeetCode</a:t>
            </a:r>
            <a:r>
              <a:rPr lang="en-GB" sz="3200" dirty="0" smtClean="0">
                <a:solidFill>
                  <a:srgbClr val="0070C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– BFS Practice Problems</a:t>
            </a:r>
          </a:p>
          <a:p>
            <a:pPr marL="514350" indent="-514350">
              <a:buAutoNum type="arabicPeriod"/>
            </a:pPr>
            <a:r>
              <a:rPr lang="en-GB" sz="3200" dirty="0" smtClean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VisualAlgo.net </a:t>
            </a:r>
            <a:r>
              <a:rPr lang="en-GB" sz="3200" dirty="0" smtClean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Interactive Graph Animations</a:t>
            </a:r>
          </a:p>
        </p:txBody>
      </p:sp>
    </p:spTree>
    <p:extLst>
      <p:ext uri="{BB962C8B-B14F-4D97-AF65-F5344CB8AC3E}">
        <p14:creationId xmlns:p14="http://schemas.microsoft.com/office/powerpoint/2010/main" val="174528334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800">
        <p:circle/>
      </p:transition>
    </mc:Choice>
    <mc:Fallback>
      <p:transition spd="slow">
        <p:circl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1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1000" fill="hold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1000" fill="hold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6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9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3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45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46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47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48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49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50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51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52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7" dur="500" fill="hold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8" dur="500" fill="hold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3" dur="500" fill="hold"/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4" dur="500" fill="hold"/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9" dur="500" fill="hold"/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0" dur="500" fill="hold"/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/>
          <p:cNvSpPr txBox="1"/>
          <p:nvPr/>
        </p:nvSpPr>
        <p:spPr>
          <a:xfrm>
            <a:off x="1221851" y="2473082"/>
            <a:ext cx="9748299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0" i="1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Thank You</a:t>
            </a:r>
            <a:endParaRPr lang="en-US" sz="8000" i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08126891"/>
      </p:ext>
    </p:extLst>
  </p:cSld>
  <p:clrMapOvr>
    <a:masterClrMapping/>
  </p:clrMapOvr>
  <p:transition spd="med">
    <p:pull/>
  </p:transition>
  <p:timing>
    <p:tnLst>
      <p:par>
        <p:cTn id="1" dur="indefinite" restart="never" nodeType="tmRoot"/>
      </p:par>
    </p:tnLst>
  </p:timing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Mesh">
  <a:themeElements>
    <a:clrScheme name="Mesh">
      <a:dk1>
        <a:sysClr val="windowText" lastClr="000000"/>
      </a:dk1>
      <a:lt1>
        <a:sysClr val="window" lastClr="FFFFFF"/>
      </a:lt1>
      <a:dk2>
        <a:srgbClr val="363D46"/>
      </a:dk2>
      <a:lt2>
        <a:srgbClr val="EBEBEB"/>
      </a:lt2>
      <a:accent1>
        <a:srgbClr val="6F6F6F"/>
      </a:accent1>
      <a:accent2>
        <a:srgbClr val="BFBFA5"/>
      </a:accent2>
      <a:accent3>
        <a:srgbClr val="DCD084"/>
      </a:accent3>
      <a:accent4>
        <a:srgbClr val="E7BF5F"/>
      </a:accent4>
      <a:accent5>
        <a:srgbClr val="E9A039"/>
      </a:accent5>
      <a:accent6>
        <a:srgbClr val="CF7133"/>
      </a:accent6>
      <a:hlink>
        <a:srgbClr val="F28943"/>
      </a:hlink>
      <a:folHlink>
        <a:srgbClr val="F1B76C"/>
      </a:folHlink>
    </a:clrScheme>
    <a:fontScheme name="Mesh">
      <a:maj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Mesh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84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innerShdw blurRad="50800" dist="25400" dir="13500000">
              <a:srgbClr val="000000">
                <a:alpha val="55000"/>
              </a:srgbClr>
            </a:innerShdw>
          </a:effectLst>
        </a:effectStyle>
        <a:effectStyle>
          <a:effectLst>
            <a:outerShdw blurRad="508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>
            <a:bevelT w="25400" h="25400" prst="slope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98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shade val="28000"/>
                <a:satMod val="94000"/>
                <a:lumMod val="20000"/>
              </a:schemeClr>
              <a:schemeClr val="phClr">
                <a:tint val="94000"/>
                <a:shade val="84000"/>
                <a:satMod val="148000"/>
                <a:lumMod val="114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esh" id="{789EC3FE-34FD-429C-9918-760025E6C145}" vid="{B8BE45C0-8141-4D58-8C71-A009BC26FBBB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TM03457485[[fn=Mesh]]</Template>
  <TotalTime>405</TotalTime>
  <Words>485</Words>
  <Application>Microsoft Office PowerPoint</Application>
  <PresentationFormat>Widescreen</PresentationFormat>
  <Paragraphs>146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9" baseType="lpstr">
      <vt:lpstr>Arial</vt:lpstr>
      <vt:lpstr>Calibri</vt:lpstr>
      <vt:lpstr>Century Gothic</vt:lpstr>
      <vt:lpstr>Poppins bold</vt:lpstr>
      <vt:lpstr>Wingdings</vt:lpstr>
      <vt:lpstr>Mesh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HP</dc:creator>
  <cp:lastModifiedBy>HP</cp:lastModifiedBy>
  <cp:revision>35</cp:revision>
  <dcterms:created xsi:type="dcterms:W3CDTF">2025-11-21T06:33:18Z</dcterms:created>
  <dcterms:modified xsi:type="dcterms:W3CDTF">2025-11-21T17:26:45Z</dcterms:modified>
</cp:coreProperties>
</file>