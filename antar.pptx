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2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3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7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73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6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1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1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3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2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34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66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92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8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45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8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3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A07FDE2-9B42-48B5-9820-5467EB6F4E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439FB19-FB94-4B78-8A5C-02F19C77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22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81972" y="525355"/>
            <a:ext cx="10228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Poppins bold"/>
              </a:rPr>
              <a:t>BREADTH FIRST SEARCH (BFS)</a:t>
            </a:r>
            <a:endParaRPr lang="en-US" sz="4800" b="1" dirty="0">
              <a:latin typeface="Poppins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33169" y="1348401"/>
            <a:ext cx="952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i="1" dirty="0" smtClean="0"/>
              <a:t>Graph </a:t>
            </a:r>
            <a:r>
              <a:rPr lang="fr-FR" sz="2800" i="1" dirty="0" err="1" smtClean="0"/>
              <a:t>Traversal</a:t>
            </a:r>
            <a:r>
              <a:rPr lang="fr-FR" sz="2800" i="1" dirty="0" smtClean="0"/>
              <a:t> Technique &amp; </a:t>
            </a:r>
            <a:r>
              <a:rPr lang="fr-FR" sz="2800" i="1" dirty="0" err="1" smtClean="0"/>
              <a:t>Its</a:t>
            </a:r>
            <a:r>
              <a:rPr lang="fr-FR" sz="2800" i="1" dirty="0" smtClean="0"/>
              <a:t> Applications</a:t>
            </a:r>
            <a:endParaRPr lang="en-US" sz="28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311427" y="2592125"/>
            <a:ext cx="115691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   : </a:t>
            </a:r>
            <a:r>
              <a:rPr lang="en-GB" sz="32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Antar</a:t>
            </a:r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Karati</a:t>
            </a:r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         :  MD. TOHIDUL </a:t>
            </a:r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ISLAM,</a:t>
            </a:r>
            <a:r>
              <a:rPr lang="en-US" sz="3200" dirty="0"/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ASSOCIATE PROFESSOR</a:t>
            </a:r>
            <a:endParaRPr lang="en-GB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              :  Data Structure</a:t>
            </a:r>
          </a:p>
          <a:p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     :  Department of Computer Science &amp; Engineering</a:t>
            </a:r>
          </a:p>
          <a:p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         :  University of </a:t>
            </a:r>
            <a:r>
              <a:rPr lang="en-GB" sz="32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Rajshahi</a:t>
            </a:r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82279" y="6162261"/>
            <a:ext cx="4227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Date: 23 November, 2025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349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268" y="79510"/>
            <a:ext cx="6655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 Roadmap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2738" y="1192695"/>
            <a:ext cx="101476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&amp; Motivation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BFS? (Core Concept)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BFS Works (Visual Logic + Queue)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BFS Algorithm (Steps + </a:t>
            </a:r>
            <a:r>
              <a:rPr lang="en-US" sz="3200" dirty="0" err="1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Pseudocode</a:t>
            </a:r>
            <a:r>
              <a:rPr lang="en-US" sz="32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BFS Simulation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Complexity Analysis (Time &amp; Space)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Applications of BFS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Mistakes when Learning BFS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&amp; Final Takeaways</a:t>
            </a:r>
            <a:endParaRPr lang="en-US" sz="32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61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0607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Learn Breadth-First Search (BFS)?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216" y="898501"/>
            <a:ext cx="122529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Technique in Graph Theory &amp; Competitive Programming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Guarantees Shortest Path in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Unweighted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Graphs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Level-Order Exploration: Explores Level by Level / Explores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neighbors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before moving deeper (unlike DFS)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Works Efficiently Using a Queue (FIFO)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584118"/>
            <a:ext cx="8645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Motivation: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683" y="4343393"/>
            <a:ext cx="97073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Network Connections (Friends of Friends)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Routing &amp; GPS Shortest Stops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Crawling and Search Indexing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925" y="2580616"/>
            <a:ext cx="4967968" cy="282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7605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6484" y="1057519"/>
            <a:ext cx="116963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BFS (Breadth-First Search) is a graph traversal technique that explores vertices in increasing order of distance from the starting node.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It visits nodes level-by-level (Layered Exploration).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BFS ensures the shortest path in an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unweighted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graph.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Primary Data Structure: Queue (FIFO-First In, First Out)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7879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 &amp; Core Concept of BFS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" y="3765936"/>
            <a:ext cx="7879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Logic: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8884" y="4605127"/>
            <a:ext cx="116963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 from a source node.</a:t>
            </a:r>
          </a:p>
          <a:p>
            <a:pPr marL="514350" indent="-514350">
              <a:buAutoNum type="arabicPeriod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Visit all direct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neighbors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(Level 1).</a:t>
            </a:r>
          </a:p>
          <a:p>
            <a:pPr marL="514350" indent="-514350">
              <a:buAutoNum type="arabicPeriod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​Move to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neighbors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neighbors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(Level 2) and so on.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678" y="3304288"/>
            <a:ext cx="4967968" cy="282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327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748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Algorithm: Breadth-First Search (BFS)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7664" y="1034993"/>
            <a:ext cx="116963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R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 all nodes as Ready (STATUS = 1)</a:t>
            </a:r>
          </a:p>
          <a:p>
            <a:pPr marL="514350" indent="-514350">
              <a:buAutoNum type="arabicParenR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a source node (e.g., A):  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•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Enqueue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   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Mark as Waiting (STATUS = 2)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While the queue is not empty:      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a)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Dequeue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front node N      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b) Process N and mark as Processed (STATUS = 3)      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c) For each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neighbor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N:              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If STATUS = 1 (Ready):                    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•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Enqueue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GB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neighbor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         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• Mark it as Waiting (STATUS = 2)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 Stop after all reachable nodes are processed.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889" y="896051"/>
            <a:ext cx="4967968" cy="28291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250" y="4531180"/>
            <a:ext cx="3150733" cy="201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1929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1674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Step-by-Step Example ​(Visualizing the Traversal)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7664" y="1034993"/>
            <a:ext cx="11696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illustrate the operational </a:t>
            </a:r>
            <a:r>
              <a:rPr lang="en-GB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BFS, we will now perform a step-by-step simulation on the selected graph with source node A.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64" y="2691764"/>
            <a:ext cx="5486400" cy="3314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90657" y="2792186"/>
            <a:ext cx="39106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Adjacency List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	Neighbors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		B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		C,D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		E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		A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		D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90657" y="2792186"/>
            <a:ext cx="3845378" cy="2969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923315" y="2722789"/>
            <a:ext cx="39106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Adjacency List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	Neighbors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		B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		C,D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		E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		A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		D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42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1674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Step-by-Step Example ​(Visualizing the Traversal)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7664" y="692097"/>
            <a:ext cx="1169636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0 —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Initialization</a:t>
            </a:r>
          </a:p>
          <a:p>
            <a:r>
              <a:rPr lang="en-US" sz="2400" b="1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[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A,B,C,D,E = Ready(1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4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 —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Enqueue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(Start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400" b="1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[A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A=Waiting(2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4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 —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Dequeue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→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&amp; Neighbors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Added: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  <a:p>
            <a:r>
              <a:rPr lang="en-US" sz="2400" b="1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[B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A=3,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B=2</a:t>
            </a:r>
          </a:p>
          <a:p>
            <a:r>
              <a:rPr lang="en-US" sz="24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 —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Dequeue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 →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&amp; Neighbors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Added: C,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</a:p>
          <a:p>
            <a:r>
              <a:rPr lang="en-US" sz="2400" b="1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[C, D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A=3, B=3, C=2,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D=2</a:t>
            </a:r>
          </a:p>
          <a:p>
            <a:r>
              <a:rPr lang="en-US" sz="24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A, B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444" y="1033215"/>
            <a:ext cx="4067485" cy="332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5568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7664" y="744311"/>
            <a:ext cx="958653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 —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Dequeue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 →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 &amp;  Neighbor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Added: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</a:p>
          <a:p>
            <a:r>
              <a:rPr lang="en-US" sz="2400" b="1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[D, E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C=3,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E=2</a:t>
            </a:r>
          </a:p>
          <a:p>
            <a:r>
              <a:rPr lang="en-US" sz="24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A, B,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  <a:p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5 —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Dequeue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 →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&amp; Neighbor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already processed →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Skip</a:t>
            </a:r>
          </a:p>
          <a:p>
            <a:r>
              <a:rPr lang="en-US" sz="2400" b="1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[E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D=3</a:t>
            </a:r>
          </a:p>
          <a:p>
            <a:r>
              <a:rPr lang="en-US" sz="24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A, B, C,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</a:p>
          <a:p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🔹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6 —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Dequeue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→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&amp; Neighbor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processed →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Skip</a:t>
            </a:r>
          </a:p>
          <a:p>
            <a:r>
              <a:rPr lang="en-US" sz="2400" b="1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[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r>
              <a:rPr lang="en-US" sz="2400" b="1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E=3</a:t>
            </a:r>
          </a:p>
          <a:p>
            <a:r>
              <a:rPr lang="en-US" sz="24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 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 B, C, D, </a:t>
            </a:r>
            <a:r>
              <a:rPr lang="en-US" sz="24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(Final Output)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 — queue empty; all reachable nodes processed</a:t>
            </a:r>
            <a:r>
              <a:rPr lang="en-GB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1674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Step-by-Step Example ​(Visualizing the Traversal)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029" y="2990875"/>
            <a:ext cx="3649435" cy="332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7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748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Complexity Analysis (BFS)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1518" y="707886"/>
            <a:ext cx="1169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Time Complexity:  </a:t>
            </a:r>
            <a:r>
              <a:rPr lang="en-GB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O(V + E)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1031" y="1371063"/>
            <a:ext cx="116963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V: Number of vertices (nodes)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E: Number of edges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Why?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✔ Every vertex is visited once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✔ Every edge is checked once (directed) or twice (undirected)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3431" y="4346170"/>
            <a:ext cx="116963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Required for: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✔ Queue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✔ Visited/Status Array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 Special Case (Adjacency Matrix):</a:t>
            </a: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Complexity = O(V²)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8261" y="3737323"/>
            <a:ext cx="1169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  Space Complexity:  O(V)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9318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748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 of BFS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0402" y="707886"/>
            <a:ext cx="11696369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Shortest Path (</a:t>
            </a:r>
            <a:r>
              <a:rPr lang="en-US" sz="3200" dirty="0" err="1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Unweighted</a:t>
            </a:r>
            <a:r>
              <a:rPr lang="en-US" sz="32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Graphs)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Example: Minimum hops in network routing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3200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Crawling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Pages are indexed layer-by-layer from a source URL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32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Media Connections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Finding users within k levels (friends-of-friends)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32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Peer-to-Peer Networks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Locating nearest resource/peer (e.g., </a:t>
            </a:r>
            <a:r>
              <a:rPr lang="en-US" sz="2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BitTorrent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3200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 Detection (Undirected Graphs)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Detects cycles using level-wise visitation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lang="en-US" sz="32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Flood Fill / Region Filling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Used in paint bucket tools &amp; game map coloring</a:t>
            </a:r>
            <a:endParaRPr lang="en-US" sz="2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4811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752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Considerations in BFS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8408" y="854844"/>
            <a:ext cx="120883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32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Suitable for Weighted Graphs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</a:t>
            </a:r>
            <a:r>
              <a:rPr lang="en-GB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BFS does NOT guarantee shortest path in weighted graphs (Use 	</a:t>
            </a:r>
            <a:r>
              <a:rPr lang="en-GB" sz="2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Dijkstra</a:t>
            </a:r>
            <a:r>
              <a:rPr lang="en-GB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instead).</a:t>
            </a:r>
          </a:p>
          <a:p>
            <a:r>
              <a:rPr lang="en-US" sz="32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High Memory Usage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</a:t>
            </a:r>
            <a:r>
              <a:rPr lang="en-GB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consume significant memory if the graph is very wide (large 	branching factor).</a:t>
            </a:r>
          </a:p>
          <a:p>
            <a:r>
              <a:rPr lang="en-US" sz="3200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Risk of Infinite Loops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</a:t>
            </a:r>
            <a:r>
              <a:rPr lang="en-GB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Forgetting the visited array causes cycles to trap the algorithm.</a:t>
            </a:r>
          </a:p>
          <a:p>
            <a:r>
              <a:rPr lang="en-US" sz="3200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Edge Direction Handling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➤ </a:t>
            </a:r>
            <a:r>
              <a:rPr lang="en-GB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careful with Directed vs. Undirected edges when adding </a:t>
            </a:r>
            <a:r>
              <a:rPr lang="en-GB" sz="28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neighbors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21449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748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&amp;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7664" y="613576"/>
            <a:ext cx="116963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Learned from BFS</a:t>
            </a:r>
          </a:p>
          <a:p>
            <a:r>
              <a:rPr lang="en-GB" sz="32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Recap: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Level-Order Traversal (Explore layer by layer)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Uses Queue (FIFO Model)</a:t>
            </a:r>
          </a:p>
          <a:p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800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Time Complexity: O(V + E)</a:t>
            </a:r>
          </a:p>
          <a:p>
            <a:r>
              <a:rPr lang="en-GB" sz="28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✔ Ideal for Shortest Path in </a:t>
            </a:r>
            <a:r>
              <a:rPr lang="en-GB" sz="2800" dirty="0" err="1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Unweighted</a:t>
            </a:r>
            <a:r>
              <a:rPr lang="en-GB" sz="28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Graphs</a:t>
            </a:r>
            <a:endParaRPr lang="en-US" sz="28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318" y="3546290"/>
            <a:ext cx="9748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4985" y="4368413"/>
            <a:ext cx="116963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3200" dirty="0" err="1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Cormen</a:t>
            </a:r>
            <a:r>
              <a:rPr lang="en-GB" sz="3200" dirty="0" smtClean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al. (CLRS) – Introduction to Algorithms, Chapter 22</a:t>
            </a:r>
          </a:p>
          <a:p>
            <a:pPr marL="514350" indent="-514350">
              <a:buAutoNum type="arabicPeriod"/>
            </a:pPr>
            <a:r>
              <a:rPr lang="en-GB" sz="3200" dirty="0" err="1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GeeksforGeeks</a:t>
            </a:r>
            <a:r>
              <a:rPr lang="en-GB" sz="32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GB" sz="3200" dirty="0" err="1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LeetCode</a:t>
            </a:r>
            <a:r>
              <a:rPr lang="en-GB" sz="32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BFS Practice Problems</a:t>
            </a:r>
          </a:p>
          <a:p>
            <a:pPr marL="514350" indent="-514350">
              <a:buAutoNum type="arabicPeriod"/>
            </a:pPr>
            <a:r>
              <a:rPr lang="en-GB" sz="32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VisualAlgo.net – Interactive Graph Animations</a:t>
            </a:r>
          </a:p>
        </p:txBody>
      </p:sp>
    </p:spTree>
    <p:extLst>
      <p:ext uri="{BB962C8B-B14F-4D97-AF65-F5344CB8AC3E}">
        <p14:creationId xmlns:p14="http://schemas.microsoft.com/office/powerpoint/2010/main" val="174528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21851" y="2473082"/>
            <a:ext cx="9748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US" sz="8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12689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450</TotalTime>
  <Words>485</Words>
  <Application>Microsoft Office PowerPoint</Application>
  <PresentationFormat>Widescreen</PresentationFormat>
  <Paragraphs>146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Poppins bold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36</cp:revision>
  <dcterms:created xsi:type="dcterms:W3CDTF">2025-11-21T06:33:18Z</dcterms:created>
  <dcterms:modified xsi:type="dcterms:W3CDTF">2025-11-22T14:54:59Z</dcterms:modified>
</cp:coreProperties>
</file>